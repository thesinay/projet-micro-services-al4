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MiamGo / FitMeal</a:t>
            </a:r>
          </a:p>
          <a:p>
            <a:r>
              <a:rPr sz="2400" b="0" i="0">
                <a:solidFill>
                  <a:srgbClr val="BFD3EA"/>
                </a:solidFill>
                <a:latin typeface="Calibri"/>
              </a:rPr>
              <a:t>Architecture microservices d'une plateforme de livraison de repas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Conception, prototype fullstack et patterns de résilience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BFD3EA"/>
                </a:solidFill>
                <a:latin typeface="Calibri"/>
              </a:rPr>
              <a:t>FastAPI · API Gateway Nginx · Redis Pub/Sub · SAGA orchestrée · Circuit Breaker · React/TypeScript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9DB8D6"/>
                </a:solidFill>
                <a:latin typeface="Calibri"/>
              </a:rPr>
              <a:t>Soutenance de projet — Architecture Microservices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Contexte métier &amp;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100" b="1" i="0">
                <a:solidFill>
                  <a:srgbClr val="08427B"/>
                </a:solidFill>
                <a:latin typeface="Calibri"/>
              </a:rPr>
              <a:t>Trois acteurs aux besoins divergents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Client : recherche rapide, commande fluide, suivi en temps réel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Restaurateur : gestion de la carte, validation et cadence de cuisine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Livreur : affectation géolocalisée et confirmation de course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100" b="1" i="0">
                <a:solidFill>
                  <a:srgbClr val="08427B"/>
                </a:solidFill>
                <a:latin typeface="Calibri"/>
              </a:rPr>
              <a:t>Défis techniques structurants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Forte asymétrie de charge : consultation intensive du catalogue vs transactions d'achat critiques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Transactions distribuées : pas de BDD unique → cohérence entre services sans verrou ACID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Résilience : pannes possibles des dépendances externes (PSP de paiement, réseau)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 i="1">
                <a:solidFill>
                  <a:srgbClr val="5B6672"/>
                </a:solidFill>
                <a:latin typeface="Calibri"/>
              </a:rPr>
              <a:t>→ Une architecture microservices découpée par charge, événementielle et résiliente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Découpe en microservices (DDD, par charge)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0" i="1">
                <a:solidFill>
                  <a:srgbClr val="5B6672"/>
                </a:solidFill>
                <a:latin typeface="Calibri"/>
              </a:rPr>
              <a:t>6 microservices autonomes + API Gateway — découpe par charge et par bounded context (ADR 0001 &amp; 0002)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830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377440"/>
                <a:gridCol w="621792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Microservice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Bounded context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Motif de découpe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service-utilisateurs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Identité &amp; comptes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Source de vérité RBAC (client / restaurant_owner / courier)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service-restaurants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Catalogue &amp; menus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Forte consultation, isolée des écritures de commande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service-commandes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Panier &amp; checkout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Orchestrateur SAGA et machine à états de la commande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service-paiements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Paiement &amp; PSP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Criticité maximale : idempotence + circuit breaker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service-livraisons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Flotte &amp; tracking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Attribution géolocalisée (haversine) des livreurs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service-notifications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Consommateur d'événements, envois simulés (email/push/sms)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Architecture — Contexte système (C4 niveau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4-contex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806" y="1325880"/>
            <a:ext cx="7492083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672"/>
                </a:solidFill>
                <a:latin typeface="Calibri"/>
              </a:rPr>
              <a:t>Le système, ses trois acteurs et le PSP externe simulé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Architecture — Conteneurs (C4 niveau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c4-conten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325880"/>
            <a:ext cx="6528816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672"/>
                </a:solidFill>
                <a:latin typeface="Calibri"/>
              </a:rPr>
              <a:t>Gateway Nginx, 6 microservices FastAPI, bus Redis et stores isolés par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Technologies utilisées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Couche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Technologies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8427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Python 3.13 · FastAPI 0.139 · Pydantic 2 · Uvicorn · httpx · structlog (logs JSON)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8427B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REST/HTTP (httpx, synchrone) · Redis 7 Pub/Sub (événements asynchrones)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8427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React 18 · TypeScript · Vite · TailwindCSS · shadcn/ui (Radix) · TanStack Query · axios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8427B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Docker Compose · API Gateway Nginx · Redis 7-alpine · healthchecks par service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8427B"/>
                          </a:solidFill>
                          <a:latin typeface="Calibri"/>
                        </a:rPr>
                        <a:t>Qualité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A37"/>
                          </a:solidFill>
                          <a:latin typeface="Calibri"/>
                        </a:rPr>
                        <a:t>pytest + coverage (&gt;95%) · ruff · mypy (strict) · Vitest · ESLint · Prettier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 b="0" i="1">
                <a:solidFill>
                  <a:srgbClr val="5B6672"/>
                </a:solidFill>
                <a:latin typeface="Calibri"/>
              </a:rPr>
              <a:t>Stack homogène par service · configuration par variables d'environnement préfixées (pydantic-settings)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Communication inter-services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08427B"/>
                </a:solidFill>
                <a:latin typeface="Calibri"/>
              </a:rPr>
              <a:t>Synchrone (REST/HTTP via httpx) — phase critique de la SAGA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5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300" b="0" i="0">
                <a:solidFill>
                  <a:srgbClr val="1F2A37"/>
                </a:solidFill>
                <a:latin typeface="Calibri"/>
              </a:rPr>
              <a:t>service-commandes est le seul appelant sortant : validation, paiement, ticket cuisine, livraison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800" b="1" i="0">
                <a:solidFill>
                  <a:srgbClr val="08427B"/>
                </a:solidFill>
                <a:latin typeface="Calibri"/>
              </a:rPr>
              <a:t>Asynchrone (Redis Pub/Sub) — découplage et continuation événementielle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004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9456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Canal d'événement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Producteur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Consommateur(s)</a:t>
                      </a:r>
                    </a:p>
                  </a:txBody>
                  <a:tcPr anchor="ctr" marT="25400" marB="25400">
                    <a:solidFill>
                      <a:srgbClr val="0842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order.confirmed / cancelled / delivered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commandes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order.ready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restaurants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commandes (→ attribution livreur)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delivery.assigned / picked_up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livraisons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 anchor="ctr" marL="762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8427B"/>
                          </a:solidFill>
                          <a:latin typeface="Calibri"/>
                        </a:rPr>
                        <a:t>delivery.completed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livraisons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A37"/>
                          </a:solidFill>
                          <a:latin typeface="Calibri"/>
                        </a:rPr>
                        <a:t>commandes (→ DELIVERED) + notifications</a:t>
                      </a:r>
                    </a:p>
                  </a:txBody>
                  <a:tcPr anchor="ctr" marL="76200" marT="25400" marB="254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Transaction distribuée : SAGA orchestrée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0" i="1">
                <a:solidFill>
                  <a:srgbClr val="5B6672"/>
                </a:solidFill>
                <a:latin typeface="Calibri"/>
              </a:rPr>
              <a:t>Orchestration hybride (ADR 0003) : phase critique synchrone, puis continuation chorégraphiée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Étape 1 — Création de la commande (statut RECEIVED)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Étape 2 — Validation restaurant (sous-total, disponibilité des plats)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Étape 3 — Paiement sécurisé (circuit breaker + retry + timeout)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Étape 4 — Ticket cuisine (acceptation par le restaurant)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600" b="0" i="0">
                <a:solidFill>
                  <a:srgbClr val="1F2A37"/>
                </a:solidFill>
                <a:latin typeface="Calibri"/>
              </a:rPr>
              <a:t>Étape 5 — Confirmation (statut PREPARING) + événement order.confirmed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8427B"/>
                </a:solidFill>
                <a:latin typeface="Calibri"/>
              </a:rPr>
              <a:t>Transactions compensatoires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Refus cuisine après paiement capturé → remboursement intégral automatique (CANCELLED_REFUSED)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Aucun livreur disponible → compensation tardive : remboursement + annulation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0" i="1">
                <a:solidFill>
                  <a:srgbClr val="5B6672"/>
                </a:solidFill>
                <a:latin typeface="Calibri"/>
              </a:rPr>
              <a:t>État de la SAGA persisté à chaque étape (saga_state) → progression observable ; la SAGA ne lève jamais d'erreur HTTP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SAGA — séquence nominale du passage de commande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09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saga-nomin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75" y="1325880"/>
            <a:ext cx="10416344" cy="4663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39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672"/>
                </a:solidFill>
                <a:latin typeface="Calibri"/>
              </a:rPr>
              <a:t>Checkout réussi : validation → paiement → ticket cuisine → confirmation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Pattern de résilience (ADR 0007)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8427B"/>
                </a:solidFill>
                <a:latin typeface="Calibri"/>
              </a:rPr>
              <a:t>Trois patterns combinés sur les appels sortants de la SAGA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Timeout : 2,0 s sur chaque appel HTTP amont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Retry : 3 tentatives, backoff exponentiel + jitter — uniquement sur erreurs transitoires (5xx, réseau), jamais sur un 4xx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Circuit Breaker (CLOSED → OPEN → HALF_OPEN) : ouverture à 5 échecs / 30 s, appliqué sur l'appel paiement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 i="0">
                <a:solidFill>
                  <a:srgbClr val="08427B"/>
                </a:solidFill>
                <a:latin typeface="Calibri"/>
              </a:rPr>
              <a:t>Sûreté &amp; démonstration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Idempotence par order_id côté paiements → le retry ne provoque jamais de double débit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PSP Chaos Mode : endpoint POST /_chaos règle le taux d'échec à chaud pour la démo QA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1">
                <a:solidFill>
                  <a:srgbClr val="5B6672"/>
                </a:solidFill>
                <a:latin typeface="Calibri"/>
              </a:rPr>
              <a:t>Circuit ouvert → annulation propre de la commande, sans débit client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Résilience — panne PSP &amp; Circuit Breaker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saga-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41" y="1325880"/>
            <a:ext cx="9621413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672"/>
                </a:solidFill>
                <a:latin typeface="Calibri"/>
              </a:rPr>
              <a:t>Retries avec backoff, ouverture du circuit, annulation sans débit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SAGA — compensation (remboursement automatique)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saga-compen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98" y="1325880"/>
            <a:ext cx="10597498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672"/>
                </a:solidFill>
                <a:latin typeface="Calibri"/>
              </a:rPr>
              <a:t>Refus cuisine après capture → remboursement intégral via le PSP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Continuation livraison (chorégraphie événementielle)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choregraphie-livra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46" y="1325880"/>
            <a:ext cx="11079202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672"/>
                </a:solidFill>
                <a:latin typeface="Calibri"/>
              </a:rPr>
              <a:t>order.ready → attribution livreur → suivi → delivery.completed → DELIVERED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Gestion des données &amp; isolation (ADR 0005)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erd-don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77295" cy="4185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46599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672"/>
                </a:solidFill>
                <a:latin typeface="Calibri"/>
              </a:rPr>
              <a:t>Un modèle et un store autonomes par service — liens logiques par clés d'agrégat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Application fullstack &amp; rôles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1">
                <a:solidFill>
                  <a:srgbClr val="5B6672"/>
                </a:solidFill>
                <a:latin typeface="Calibri"/>
              </a:rPr>
              <a:t>Frontend React 18 / TypeScript / Vite / Tailwind — 4 vues cloisonnées par rôle (ADR 0010)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Vue Client : catalogue, recherche filtrée, panier, checkout GPS, suivi en direct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Espace Restaurateur : établissement, gestion de la carte, tickets cuisine (PREPARING → READY)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Espace Livreur : flotte géolocalisée, prise en charge et remise (PICKED_UP → DELIVERED)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 i="0">
                <a:solidFill>
                  <a:srgbClr val="E8590C"/>
                </a:solidFill>
                <a:latin typeface="Calibri"/>
              </a:rPr>
              <a:t>▸ </a:t>
            </a:r>
            <a:r>
              <a:rPr sz="1700" b="0" i="0">
                <a:solidFill>
                  <a:srgbClr val="1F2A37"/>
                </a:solidFill>
                <a:latin typeface="Calibri"/>
              </a:rPr>
              <a:t>Dashboard QA Testeur : santé des 6 services, PSP Chaos, connexion instantanée aux comptes de test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 i="1">
                <a:solidFill>
                  <a:srgbClr val="5B6672"/>
                </a:solidFill>
                <a:latin typeface="Calibri"/>
              </a:rPr>
              <a:t>Contrôle d'accès par rôle : garde RequireRole côté routes, rôle porté par le service-utilisateurs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Démonstration · Qualité ·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37215" y="292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D3EA"/>
                </a:solidFill>
                <a:latin typeface="Calibri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672"/>
                </a:solidFill>
                <a:latin typeface="Calibri"/>
              </a:rPr>
              <a:t>MiamGo / FitMeal — Soutenance Architecture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B6672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8427B"/>
                </a:solidFill>
                <a:latin typeface="Calibri"/>
              </a:rPr>
              <a:t>Scénarios de démonstration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Parcours nominal : commande → PREPARING → READY → attribution livreur → DELIVERED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Résilience : PSP Chaos 100 % → circuit breaker → annulation « sans débit »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8427B"/>
                </a:solidFill>
                <a:latin typeface="Calibri"/>
              </a:rPr>
              <a:t>Qualité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Backend : &gt; 95 % de couverture (~310 tests), ruff + mypy strict ; Frontend : Vitest, ESLint, Prettier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Conteneurisation Docker Compose avec healthchecks sur tous les services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900" b="1" i="0">
                <a:solidFill>
                  <a:srgbClr val="08427B"/>
                </a:solidFill>
                <a:latin typeface="Calibri"/>
              </a:rPr>
              <a:t>Perspectives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1" i="0">
                <a:solidFill>
                  <a:srgbClr val="E8590C"/>
                </a:solidFill>
                <a:latin typeface="Calibri"/>
              </a:rPr>
              <a:t>–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Kafka (persistance/replay) · CQRS lecture catalogue · PostgreSQL + Alembic · JWT RS256 au gateway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0" i="1">
                <a:solidFill>
                  <a:srgbClr val="5B6672"/>
                </a:solidFill>
                <a:latin typeface="Calibri"/>
              </a:rPr>
              <a:t>Merci — questions &amp; réponses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